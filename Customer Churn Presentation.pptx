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70" r:id="rId10"/>
    <p:sldId id="278" r:id="rId11"/>
    <p:sldId id="273" r:id="rId12"/>
    <p:sldId id="277" r:id="rId13"/>
    <p:sldId id="267" r:id="rId14"/>
    <p:sldId id="279" r:id="rId15"/>
    <p:sldId id="280" r:id="rId16"/>
    <p:sldId id="263" r:id="rId17"/>
    <p:sldId id="264" r:id="rId18"/>
    <p:sldId id="265" r:id="rId19"/>
    <p:sldId id="274" r:id="rId20"/>
    <p:sldId id="275" r:id="rId21"/>
    <p:sldId id="266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53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6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4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9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35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70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2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23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61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17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5066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3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6380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56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310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2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AC96B-E786-4F2E-8A7B-4BC355B55F95}" type="datetimeFigureOut">
              <a:rPr lang="en-US" smtClean="0"/>
              <a:t>06-Oct-25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268383-DA2D-4FCA-8322-188DD1164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397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2510" y="457200"/>
            <a:ext cx="7766936" cy="1646302"/>
          </a:xfrm>
        </p:spPr>
        <p:txBody>
          <a:bodyPr/>
          <a:lstStyle/>
          <a:p>
            <a:r>
              <a:rPr lang="en-US" dirty="0"/>
              <a:t>CUSTOMER CHURN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58746" y="3606020"/>
            <a:ext cx="4370700" cy="2503232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2000" b="1" dirty="0"/>
              <a:t>Team Members: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 err="1"/>
              <a:t>Kaveti</a:t>
            </a:r>
            <a:r>
              <a:rPr lang="en-US" sz="2000" dirty="0"/>
              <a:t> Nani Kartik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BAREDDY PAVANI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MADANAPU PRATHYUSHA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Amandeep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Deepesh Kumar Verma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C4833C-7F85-BEBB-91BD-BC575E099C2C}"/>
              </a:ext>
            </a:extLst>
          </p:cNvPr>
          <p:cNvSpPr txBox="1"/>
          <p:nvPr/>
        </p:nvSpPr>
        <p:spPr>
          <a:xfrm>
            <a:off x="675861" y="3246783"/>
            <a:ext cx="19845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Mentor’s Name:</a:t>
            </a:r>
          </a:p>
          <a:p>
            <a:r>
              <a:rPr lang="en-US" sz="20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2138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88613"/>
            <a:ext cx="8930492" cy="4759787"/>
          </a:xfrm>
        </p:spPr>
        <p:txBody>
          <a:bodyPr>
            <a:normAutofit/>
          </a:bodyPr>
          <a:lstStyle/>
          <a:p>
            <a:r>
              <a:rPr lang="en-US" sz="2000" dirty="0"/>
              <a:t>Business Objective</a:t>
            </a:r>
          </a:p>
          <a:p>
            <a:r>
              <a:rPr lang="en-US" sz="2000" dirty="0"/>
              <a:t>Dataset Overview</a:t>
            </a:r>
          </a:p>
          <a:p>
            <a:r>
              <a:rPr lang="en-US" sz="2000" dirty="0"/>
              <a:t>Columns and </a:t>
            </a:r>
            <a:r>
              <a:rPr lang="en-US" sz="2000" dirty="0" err="1"/>
              <a:t>Datatypes</a:t>
            </a:r>
            <a:endParaRPr lang="en-US" sz="2000" dirty="0"/>
          </a:p>
          <a:p>
            <a:r>
              <a:rPr lang="en-US" sz="2000" dirty="0"/>
              <a:t>Data Preprocessing</a:t>
            </a:r>
          </a:p>
          <a:p>
            <a:r>
              <a:rPr lang="en-US" sz="2000" dirty="0"/>
              <a:t>EDA</a:t>
            </a:r>
          </a:p>
          <a:p>
            <a:r>
              <a:rPr lang="en-US" sz="2000" dirty="0"/>
              <a:t>Feature Importance</a:t>
            </a:r>
          </a:p>
          <a:p>
            <a:r>
              <a:rPr lang="en-US" sz="2000" dirty="0"/>
              <a:t>SMOTE</a:t>
            </a:r>
          </a:p>
          <a:p>
            <a:r>
              <a:rPr lang="en-US" sz="2000" dirty="0"/>
              <a:t>Model Building</a:t>
            </a:r>
          </a:p>
          <a:p>
            <a:r>
              <a:rPr lang="en-US" sz="2000" dirty="0"/>
              <a:t>Challenges Faced</a:t>
            </a:r>
          </a:p>
          <a:p>
            <a:r>
              <a:rPr lang="en-US" sz="2000" dirty="0"/>
              <a:t>Deployment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043700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256" y="924871"/>
            <a:ext cx="8596668" cy="1320800"/>
          </a:xfrm>
        </p:spPr>
        <p:txBody>
          <a:bodyPr/>
          <a:lstStyle/>
          <a:p>
            <a:r>
              <a:rPr lang="en-US" dirty="0"/>
              <a:t>BUSINESS OBJECTIVE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7490" y="2066170"/>
            <a:ext cx="1003351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churn is a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problem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telecom companies (churn &gt;10% annually).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probability of churn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customer features.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retention strategies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reducing customer loss.</a:t>
            </a:r>
          </a:p>
        </p:txBody>
      </p:sp>
    </p:spTree>
    <p:extLst>
      <p:ext uri="{BB962C8B-B14F-4D97-AF65-F5344CB8AC3E}">
        <p14:creationId xmlns:p14="http://schemas.microsoft.com/office/powerpoint/2010/main" val="2265401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contains information about customer accounts, their usage of services, and whether they ultimately churned (canceled their service).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Shape: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It has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3333 rows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(representing customers) and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19   columns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(representing different attributes or features of the customers).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Quality: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missing values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the dataset.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are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 duplicate rows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567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COLUMNS AND DATA TYPES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47870" y="1462139"/>
            <a:ext cx="105156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contains the following columns, with a mix of numerical and categorical features (represented as integers):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account_length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The number of days the account has been active.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voice_mail_plan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Whether the customer has a voicemail plan (1 for yes, 0 for no).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voice_mail_messages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The number of voicemail messages.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day_mins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evening_mins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night_mins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international_mins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(float64) The total number of minutes the customer has used during the day, evening, night, and for international calls, respectively.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customer_service_calls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The number of calls made to customer service.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international_plan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Whether the customer has an international plan (1 for yes, 0 for no).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day_calls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evening_calls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night_calls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international_calls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The total number of calls made during the day, evening, night, and for international calls, respectively.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day_charge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evening_charge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night_charge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international_charge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total_charge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(float64) The charges for usage during different times of the day, for international calls, and the total charge.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churn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(int64) This is the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variable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It indicates whether the customer has churned (1 for yes, 0 for 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6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081" y="1173534"/>
            <a:ext cx="4686706" cy="451143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583947" y="1561381"/>
            <a:ext cx="293298" cy="20703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041147" y="1483741"/>
            <a:ext cx="50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9583947" y="1853073"/>
            <a:ext cx="293298" cy="200014"/>
          </a:xfrm>
          <a:prstGeom prst="rect">
            <a:avLst/>
          </a:prstGeom>
          <a:solidFill>
            <a:srgbClr val="F953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046893" y="1774157"/>
            <a:ext cx="508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75" y="1173534"/>
            <a:ext cx="5303531" cy="41605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337280-1391-6E3C-7B7D-823226E92B39}"/>
              </a:ext>
            </a:extLst>
          </p:cNvPr>
          <p:cNvSpPr txBox="1"/>
          <p:nvPr/>
        </p:nvSpPr>
        <p:spPr>
          <a:xfrm>
            <a:off x="944216" y="332168"/>
            <a:ext cx="63577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</a:rPr>
              <a:t>Churn Distribution</a:t>
            </a:r>
          </a:p>
        </p:txBody>
      </p:sp>
    </p:spTree>
    <p:extLst>
      <p:ext uri="{BB962C8B-B14F-4D97-AF65-F5344CB8AC3E}">
        <p14:creationId xmlns:p14="http://schemas.microsoft.com/office/powerpoint/2010/main" val="3068466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449726"/>
            <a:ext cx="985702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Cleaning: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Checked for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missing or null values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→ handled or imputed where necessary.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Verified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types.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Encoding Categorical Data: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 </a:t>
            </a: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Label Encoding / One-Hot Encoding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binary features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Scaling: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Standardized numerical features..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Feature Engineering: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Created derived features (like total call minutes, total charges, etc., if done).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Dropped unnecessary columns.</a:t>
            </a:r>
          </a:p>
        </p:txBody>
      </p:sp>
    </p:spTree>
    <p:extLst>
      <p:ext uri="{BB962C8B-B14F-4D97-AF65-F5344CB8AC3E}">
        <p14:creationId xmlns:p14="http://schemas.microsoft.com/office/powerpoint/2010/main" val="2785265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05215"/>
            <a:ext cx="9354562" cy="4942576"/>
          </a:xfrm>
        </p:spPr>
        <p:txBody>
          <a:bodyPr>
            <a:normAutofit/>
          </a:bodyPr>
          <a:lstStyle/>
          <a:p>
            <a:r>
              <a:rPr lang="en-US" sz="2000" b="1" dirty="0" err="1"/>
              <a:t>Univariate</a:t>
            </a:r>
            <a:r>
              <a:rPr lang="en-US" sz="2000" b="1" dirty="0"/>
              <a:t> Analysis:</a:t>
            </a:r>
          </a:p>
          <a:p>
            <a:r>
              <a:rPr lang="en-US" sz="2000" dirty="0"/>
              <a:t>Checked </a:t>
            </a:r>
            <a:r>
              <a:rPr lang="en-US" sz="2000" b="1" dirty="0"/>
              <a:t>distribution</a:t>
            </a:r>
            <a:r>
              <a:rPr lang="en-US" sz="2000" dirty="0"/>
              <a:t> of key numerical variables (minutes, charges, etc.).</a:t>
            </a:r>
          </a:p>
          <a:p>
            <a:r>
              <a:rPr lang="en-US" sz="2000" dirty="0"/>
              <a:t>Found </a:t>
            </a:r>
            <a:r>
              <a:rPr lang="en-US" sz="2000" b="1" dirty="0"/>
              <a:t>outliers</a:t>
            </a:r>
            <a:r>
              <a:rPr lang="en-US" sz="2000" dirty="0"/>
              <a:t> in usage and charge-related columns.</a:t>
            </a:r>
          </a:p>
          <a:p>
            <a:r>
              <a:rPr lang="en-US" sz="2000" dirty="0"/>
              <a:t>Observed </a:t>
            </a:r>
            <a:r>
              <a:rPr lang="en-US" sz="2000" b="1" dirty="0"/>
              <a:t>churn distribution imbalance</a:t>
            </a:r>
            <a:r>
              <a:rPr lang="en-US" sz="2000" dirty="0"/>
              <a:t> (e.g., fewer churned customers than loyal ones).</a:t>
            </a:r>
          </a:p>
          <a:p>
            <a:r>
              <a:rPr lang="en-US" sz="2000" b="1" dirty="0"/>
              <a:t>Bivariate Analysis:</a:t>
            </a:r>
          </a:p>
          <a:p>
            <a:r>
              <a:rPr lang="en-US" sz="2000" dirty="0"/>
              <a:t>Compared churn vs. non-churn groups:</a:t>
            </a:r>
          </a:p>
          <a:p>
            <a:pPr lvl="1"/>
            <a:r>
              <a:rPr lang="en-US" sz="2000" dirty="0"/>
              <a:t>Customers with </a:t>
            </a:r>
            <a:r>
              <a:rPr lang="en-US" sz="2000" b="1" dirty="0"/>
              <a:t>International Plan</a:t>
            </a:r>
            <a:r>
              <a:rPr lang="en-US" sz="2000" dirty="0"/>
              <a:t> → higher churn rate.</a:t>
            </a:r>
          </a:p>
          <a:p>
            <a:pPr lvl="1"/>
            <a:r>
              <a:rPr lang="en-US" sz="2000" dirty="0"/>
              <a:t>Customers with </a:t>
            </a:r>
            <a:r>
              <a:rPr lang="en-US" sz="2000" b="1" dirty="0"/>
              <a:t>more customer service calls</a:t>
            </a:r>
            <a:r>
              <a:rPr lang="en-US" sz="2000" dirty="0"/>
              <a:t> → more likely to churn.</a:t>
            </a:r>
          </a:p>
          <a:p>
            <a:pPr lvl="1"/>
            <a:r>
              <a:rPr lang="en-US" sz="2000" b="1" dirty="0"/>
              <a:t>High day charges and minutes</a:t>
            </a:r>
            <a:r>
              <a:rPr lang="en-US" sz="2000" dirty="0"/>
              <a:t> correlate with churn.</a:t>
            </a:r>
          </a:p>
        </p:txBody>
      </p:sp>
    </p:spTree>
    <p:extLst>
      <p:ext uri="{BB962C8B-B14F-4D97-AF65-F5344CB8AC3E}">
        <p14:creationId xmlns:p14="http://schemas.microsoft.com/office/powerpoint/2010/main" val="1862634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32" y="347466"/>
            <a:ext cx="9464059" cy="616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653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BA556-0916-95B1-B5FE-BDBBE240D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DDC945B-220F-7FDF-0BFC-A15DC30D3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287" y="0"/>
            <a:ext cx="6553200" cy="681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316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769" y="1348736"/>
            <a:ext cx="5303531" cy="41605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306" y="1356853"/>
            <a:ext cx="6479164" cy="457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2762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37C3854-BEA0-EDD3-850B-A04A99E0F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4388" y="101127"/>
            <a:ext cx="5644146" cy="5091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3DDDC5-0118-B994-8F9C-4F152335EB0A}"/>
              </a:ext>
            </a:extLst>
          </p:cNvPr>
          <p:cNvSpPr txBox="1"/>
          <p:nvPr/>
        </p:nvSpPr>
        <p:spPr>
          <a:xfrm>
            <a:off x="702366" y="5380672"/>
            <a:ext cx="97535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plot shows that customers who left made more customer service calls on average compared to those who stayed.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call frequency, especially with outliers, appears to be associated with churn.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1562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47" y="25992"/>
            <a:ext cx="8596668" cy="1320800"/>
          </a:xfrm>
        </p:spPr>
        <p:txBody>
          <a:bodyPr/>
          <a:lstStyle/>
          <a:p>
            <a:r>
              <a:rPr lang="en-US" dirty="0"/>
              <a:t>FEATURE </a:t>
            </a:r>
            <a:br>
              <a:rPr lang="en-US" dirty="0"/>
            </a:br>
            <a:r>
              <a:rPr lang="en-US" dirty="0"/>
              <a:t>IMPORTANCE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384" y="304288"/>
            <a:ext cx="6234276" cy="5117302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65BB9D-D568-059C-EFB0-1E0996846267}"/>
              </a:ext>
            </a:extLst>
          </p:cNvPr>
          <p:cNvSpPr txBox="1"/>
          <p:nvPr/>
        </p:nvSpPr>
        <p:spPr>
          <a:xfrm>
            <a:off x="398302" y="5563705"/>
            <a:ext cx="10759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Plot shows that </a:t>
            </a:r>
            <a:r>
              <a:rPr lang="en-US" dirty="0" err="1"/>
              <a:t>customer_service_calls</a:t>
            </a:r>
            <a:r>
              <a:rPr lang="en-US" dirty="0"/>
              <a:t>, </a:t>
            </a:r>
            <a:r>
              <a:rPr lang="en-US" dirty="0" err="1"/>
              <a:t>total_charge</a:t>
            </a:r>
            <a:r>
              <a:rPr lang="en-US" dirty="0"/>
              <a:t>, and </a:t>
            </a:r>
            <a:r>
              <a:rPr lang="en-US" dirty="0" err="1"/>
              <a:t>international_plan</a:t>
            </a:r>
            <a:r>
              <a:rPr lang="en-US" dirty="0"/>
              <a:t> have the strongest impact on churn predictions.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values of these features generally push the model towards predicting churn.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737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D0300-9766-4E33-4D17-E1B6307EF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351" y="4917613"/>
            <a:ext cx="8596668" cy="3880773"/>
          </a:xfrm>
        </p:spPr>
        <p:txBody>
          <a:bodyPr/>
          <a:lstStyle/>
          <a:p>
            <a:r>
              <a:rPr lang="en-US" sz="2000" dirty="0"/>
              <a:t>This SHAP (Shapley Additive </a:t>
            </a:r>
            <a:r>
              <a:rPr lang="en-US" sz="2000" dirty="0" err="1"/>
              <a:t>exPlanations</a:t>
            </a:r>
            <a:r>
              <a:rPr lang="en-US" sz="2000" dirty="0"/>
              <a:t>) dependence plot shows how the feature </a:t>
            </a:r>
            <a:r>
              <a:rPr lang="en-US" sz="2000" dirty="0" err="1"/>
              <a:t>total_charge</a:t>
            </a:r>
            <a:r>
              <a:rPr lang="en-US" sz="2000" dirty="0"/>
              <a:t> influences the model’s output.</a:t>
            </a:r>
          </a:p>
          <a:p>
            <a:r>
              <a:rPr lang="en-US" sz="2000" dirty="0"/>
              <a:t>At higher total charges (around 70+), the SHAP values rise sharply, indicating a strong positive contribution to predicting churn.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7762157-B4E3-AA81-6580-BB7CB3AD7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883" y="232121"/>
            <a:ext cx="5381625" cy="435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1657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2C09C-0DBF-926D-8905-BD1671719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40B43-10EA-B8EC-B818-19B494DFD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629" y="4082726"/>
            <a:ext cx="8596668" cy="3880773"/>
          </a:xfrm>
        </p:spPr>
        <p:txBody>
          <a:bodyPr/>
          <a:lstStyle/>
          <a:p>
            <a:r>
              <a:rPr lang="en-US" sz="2000" dirty="0"/>
              <a:t>This partial dependence plot shows how </a:t>
            </a:r>
            <a:r>
              <a:rPr lang="en-US" sz="2000" dirty="0" err="1"/>
              <a:t>account_length</a:t>
            </a:r>
            <a:r>
              <a:rPr lang="en-US" sz="2000" dirty="0"/>
              <a:t>, </a:t>
            </a:r>
            <a:r>
              <a:rPr lang="en-US" sz="2000" dirty="0" err="1"/>
              <a:t>international_mins</a:t>
            </a:r>
            <a:r>
              <a:rPr lang="en-US" sz="2000" dirty="0"/>
              <a:t>, and </a:t>
            </a:r>
            <a:r>
              <a:rPr lang="en-US" sz="2000" dirty="0" err="1"/>
              <a:t>total_charge</a:t>
            </a:r>
            <a:r>
              <a:rPr lang="en-US" sz="2000" dirty="0"/>
              <a:t> affect churn probability on average.</a:t>
            </a:r>
          </a:p>
          <a:p>
            <a:r>
              <a:rPr lang="en-US" sz="2000" dirty="0"/>
              <a:t>The model is especially sensitive to higher values of international minutes and total charge, which sharply increase churn risk.</a:t>
            </a:r>
          </a:p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500E19B-568C-F436-8C21-0630142EC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24"/>
            <a:ext cx="12192000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1786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SMOTE TECHNIQUE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3762085"/>
              </p:ext>
            </p:extLst>
          </p:nvPr>
        </p:nvGraphicFramePr>
        <p:xfrm>
          <a:off x="677863" y="1806906"/>
          <a:ext cx="85963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Before Applying SMOTE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After Applying</a:t>
                      </a:r>
                      <a:r>
                        <a:rPr lang="en-US" baseline="0" dirty="0"/>
                        <a:t> SMOTE</a:t>
                      </a:r>
                      <a:endParaRPr lang="en-US" dirty="0"/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0=1853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0=1853</a:t>
                      </a:r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1=152</a:t>
                      </a:r>
                    </a:p>
                  </a:txBody>
                  <a:tcPr marL="74751" marR="7475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1=1853</a:t>
                      </a:r>
                    </a:p>
                  </a:txBody>
                  <a:tcPr marL="74751" marR="7475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983" y="3043395"/>
            <a:ext cx="9043434" cy="356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253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010682"/>
              </p:ext>
            </p:extLst>
          </p:nvPr>
        </p:nvGraphicFramePr>
        <p:xfrm>
          <a:off x="2072465" y="1617428"/>
          <a:ext cx="5510362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5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0.972112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Tuned 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0.972112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 err="1"/>
                        <a:t>LightGBM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0.972112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Tuned </a:t>
                      </a:r>
                      <a:r>
                        <a:rPr lang="en-US" dirty="0" err="1"/>
                        <a:t>LightGBM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0.972112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0.970120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Tuned </a:t>
                      </a:r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0.970120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0.930279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Tuned 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0.876494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0.876494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0.778884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Tuned 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0.776892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8888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77" y="500332"/>
            <a:ext cx="11524891" cy="5641676"/>
          </a:xfrm>
        </p:spPr>
      </p:pic>
    </p:spTree>
    <p:extLst>
      <p:ext uri="{BB962C8B-B14F-4D97-AF65-F5344CB8AC3E}">
        <p14:creationId xmlns:p14="http://schemas.microsoft.com/office/powerpoint/2010/main" val="2207695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259457"/>
            <a:ext cx="10856270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8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07" y="470065"/>
            <a:ext cx="11867916" cy="591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157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210850"/>
            <a:ext cx="8596668" cy="1320800"/>
          </a:xfrm>
        </p:spPr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531650"/>
            <a:ext cx="8596668" cy="3880773"/>
          </a:xfrm>
        </p:spPr>
        <p:txBody>
          <a:bodyPr>
            <a:normAutofit/>
          </a:bodyPr>
          <a:lstStyle/>
          <a:p>
            <a:r>
              <a:rPr lang="en-US" sz="2000" dirty="0"/>
              <a:t>Handling the Imbalanced dataset</a:t>
            </a:r>
          </a:p>
          <a:p>
            <a:r>
              <a:rPr lang="en-US" sz="2000" dirty="0"/>
              <a:t>Dealing with Multicollinearity</a:t>
            </a:r>
          </a:p>
          <a:p>
            <a:r>
              <a:rPr lang="en-US" sz="2000" dirty="0"/>
              <a:t>Model Selection and Hyperparameter Tuning</a:t>
            </a:r>
          </a:p>
          <a:p>
            <a:r>
              <a:rPr lang="en-US" sz="2000" dirty="0"/>
              <a:t>Avoiding the Data Leakage During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102572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12214" y="2682818"/>
            <a:ext cx="63749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151311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1661</TotalTime>
  <Words>805</Words>
  <Application>Microsoft Office PowerPoint</Application>
  <PresentationFormat>Widescreen</PresentationFormat>
  <Paragraphs>121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Trebuchet MS</vt:lpstr>
      <vt:lpstr>Wingdings 3</vt:lpstr>
      <vt:lpstr>Facet</vt:lpstr>
      <vt:lpstr>CUSTOMER CHURN PREDICTION</vt:lpstr>
      <vt:lpstr>CONTENTS</vt:lpstr>
      <vt:lpstr>BUSINESS OBJECTIVE</vt:lpstr>
      <vt:lpstr>DATASET OVERVIEW</vt:lpstr>
      <vt:lpstr>COLUMNS AND DATA TYPES</vt:lpstr>
      <vt:lpstr>PowerPoint Presentation</vt:lpstr>
      <vt:lpstr>DATA PREPROCESSING</vt:lpstr>
      <vt:lpstr>EDA</vt:lpstr>
      <vt:lpstr>PowerPoint Presentation</vt:lpstr>
      <vt:lpstr>PowerPoint Presentation</vt:lpstr>
      <vt:lpstr>PowerPoint Presentation</vt:lpstr>
      <vt:lpstr>PowerPoint Presentation</vt:lpstr>
      <vt:lpstr>FEATURE  IMPORTANCE</vt:lpstr>
      <vt:lpstr>PowerPoint Presentation</vt:lpstr>
      <vt:lpstr>PowerPoint Presentation</vt:lpstr>
      <vt:lpstr>SMOTE TECHNIQUE</vt:lpstr>
      <vt:lpstr>MODEL BUILDING</vt:lpstr>
      <vt:lpstr>PowerPoint Presentation</vt:lpstr>
      <vt:lpstr>DEPLOYMENT</vt:lpstr>
      <vt:lpstr>PowerPoint Presentation</vt:lpstr>
      <vt:lpstr>CHALLENGES FACED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</dc:title>
  <dc:creator>Admin</dc:creator>
  <cp:lastModifiedBy>DELL</cp:lastModifiedBy>
  <cp:revision>12</cp:revision>
  <dcterms:created xsi:type="dcterms:W3CDTF">2025-10-04T00:23:57Z</dcterms:created>
  <dcterms:modified xsi:type="dcterms:W3CDTF">2025-10-06T09:03:06Z</dcterms:modified>
</cp:coreProperties>
</file>